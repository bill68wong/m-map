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458700" y="819150"/>
            <a:ext cx="876300" cy="876300"/>
          </a:xfrm>
          <a:prstGeom prst="roundRect">
            <a:avLst>
              <a:gd name="adj" fmla="val 17391"/>
            </a:avLst>
          </a:prstGeom>
          <a:solidFill>
            <a:srgbClr val="1B4D8F"/>
          </a:solidFill>
          <a:ln/>
        </p:spPr>
      </p:sp>
      <p:sp>
        <p:nvSpPr>
          <p:cNvPr id="4" name="Shape 2"/>
          <p:cNvSpPr/>
          <p:nvPr/>
        </p:nvSpPr>
        <p:spPr>
          <a:xfrm>
            <a:off x="9239250" y="2980134"/>
            <a:ext cx="4095750" cy="2069306"/>
          </a:xfrm>
          <a:prstGeom prst="roundRect">
            <a:avLst>
              <a:gd name="adj" fmla="val 5524"/>
            </a:avLst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5" name="Image 0" descr="D:\Projects\University\Studio\musttoukou\.workbuddy\ppt-sep\frontend\dist-slides\html2pptx_tmp_all-slides\svg_179051968950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200" y="1009650"/>
            <a:ext cx="495300" cy="495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650" y="499318"/>
            <a:ext cx="26747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MACAU TRANSIT NAVIGATOR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28650" y="1648718"/>
            <a:ext cx="84810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0"/>
              </a:lnSpc>
              <a:spcBef>
                <a:spcPts val="5226"/>
              </a:spcBef>
              <a:spcAft>
                <a:spcPts val="600"/>
              </a:spcAft>
              <a:buNone/>
            </a:pPr>
            <a:r>
              <a:rPr lang="en-US" sz="780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 Map</a:t>
            </a:r>
            <a:endParaRPr lang="en-US" sz="7800" dirty="0"/>
          </a:p>
        </p:txBody>
      </p:sp>
      <p:sp>
        <p:nvSpPr>
          <p:cNvPr id="8" name="Text 5"/>
          <p:cNvSpPr/>
          <p:nvPr/>
        </p:nvSpPr>
        <p:spPr>
          <a:xfrm>
            <a:off x="628650" y="3134618"/>
            <a:ext cx="8884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澳搭車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628650" y="5068193"/>
            <a:ext cx="888492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1"/>
              </a:lnSpc>
              <a:spcBef>
                <a:spcPts val="2025"/>
              </a:spcBef>
              <a:spcAft>
                <a:spcPts val="1200"/>
              </a:spcAft>
              <a:buNone/>
            </a:pPr>
            <a:r>
              <a:rPr lang="en-US" sz="20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把等車的不確定性，變成可計算的分鐘數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628650" y="5800427"/>
            <a:ext cx="888492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導航與報站一體化的澳門公共交通應用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628650" y="7063680"/>
            <a:ext cx="25543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覆蓋範圍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8650" y="7358955"/>
            <a:ext cx="25543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澳門全境 · 92 條巴士線 + 3 條輕軌線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3331815" y="7063680"/>
            <a:ext cx="154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線上地址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31815" y="7358955"/>
            <a:ext cx="1475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macaomap.vercel.app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9505950" y="3361134"/>
            <a:ext cx="39185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參賽賽事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505950" y="3675459"/>
            <a:ext cx="391858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300"/>
              </a:spcAft>
              <a:buNone/>
            </a:pPr>
            <a:r>
              <a:rPr lang="en-US" sz="12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第 11 屆粵港澳大灣區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9505950" y="4100513"/>
            <a:ext cx="391858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800"/>
              </a:spcAft>
              <a:buNone/>
            </a:pPr>
            <a:r>
              <a:rPr lang="en-US" sz="12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IT 應用系統開發大賽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9677400" y="4592241"/>
            <a:ext cx="6443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A85E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澳門分賽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9239250" y="6677025"/>
            <a:ext cx="13509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開發團隊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239250" y="6991350"/>
            <a:ext cx="135094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開發團隊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90625" y="4843463"/>
            <a:ext cx="533400" cy="2857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4" name="Text 2"/>
          <p:cNvSpPr/>
          <p:nvPr/>
        </p:nvSpPr>
        <p:spPr>
          <a:xfrm>
            <a:off x="1190625" y="3471863"/>
            <a:ext cx="314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spcBef>
                <a:spcPts val="4350"/>
              </a:spcBef>
              <a:spcAft>
                <a:spcPts val="4350"/>
              </a:spcAft>
              <a:buNone/>
            </a:pPr>
            <a:r>
              <a:rPr lang="en-US" sz="43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目錄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90625" y="5024438"/>
            <a:ext cx="3000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CONTENTS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62525" y="240982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452467" y="2543175"/>
            <a:ext cx="79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產品定位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9296400" y="240982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786342" y="2543175"/>
            <a:ext cx="79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功能全景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4962525" y="300037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452467" y="3133725"/>
            <a:ext cx="79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數據驅動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296400" y="300037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786342" y="3133725"/>
            <a:ext cx="79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數據分析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4962525" y="359092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452467" y="3724275"/>
            <a:ext cx="79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時間量化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296400" y="359092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786342" y="3724275"/>
            <a:ext cx="15925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巴士區間進度模型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4962525" y="418147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452467" y="4314825"/>
            <a:ext cx="79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核心架構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296400" y="418147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786342" y="4314825"/>
            <a:ext cx="79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風控合規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4962525" y="477202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5452467" y="4905375"/>
            <a:ext cx="79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美術設計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296400" y="477202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786342" y="4905375"/>
            <a:ext cx="796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落地成果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4962525" y="5362575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1B4D8F">
                    <a:alpha val="3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5452467" y="5495925"/>
            <a:ext cx="398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展望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1908572"/>
            <a:ext cx="666750" cy="2857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203847"/>
            <a:ext cx="8058150" cy="3709988"/>
          </a:xfrm>
          <a:prstGeom prst="roundRect">
            <a:avLst>
              <a:gd name="adj" fmla="val 3081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77300" y="2203847"/>
            <a:ext cx="4457700" cy="3709988"/>
          </a:xfrm>
          <a:prstGeom prst="roundRect">
            <a:avLst>
              <a:gd name="adj" fmla="val 3081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05900" y="4754166"/>
            <a:ext cx="4000500" cy="9525"/>
          </a:xfrm>
          <a:prstGeom prst="rect">
            <a:avLst/>
          </a:prstGeom>
          <a:solidFill>
            <a:srgbClr val="A85E00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6250" y="6933009"/>
            <a:ext cx="4133850" cy="2169319"/>
          </a:xfrm>
          <a:prstGeom prst="roundRect">
            <a:avLst>
              <a:gd name="adj" fmla="val 351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838700" y="6933009"/>
            <a:ext cx="4133850" cy="2169319"/>
          </a:xfrm>
          <a:prstGeom prst="roundRect">
            <a:avLst>
              <a:gd name="adj" fmla="val 351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01150" y="6933009"/>
            <a:ext cx="4133850" cy="2169319"/>
          </a:xfrm>
          <a:prstGeom prst="roundRect">
            <a:avLst>
              <a:gd name="adj" fmla="val 351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6250" y="1116211"/>
            <a:ext cx="1676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產品定位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7070" y="1622822"/>
            <a:ext cx="56187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輸入任意起點終點，輸出「步行 + 巴士／輕軌 + 換乘」的門到門方案，按總時長排序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5350" y="2613422"/>
            <a:ext cx="21897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澳門出行導航的兩個空白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857250" y="3223022"/>
            <a:ext cx="81934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通用地圖（高德、谷歌）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7250" y="3575447"/>
            <a:ext cx="819340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未接入澳門巴士實時數據；站間時間靠路網推算；無法回答「這班車還要多久到」。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7250" y="3944541"/>
            <a:ext cx="81934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官方報站應用（巴士報站、澳門出行）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7250" y="4296966"/>
            <a:ext cx="819340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報站數據準確；但導航功能不佳、可用地點不全。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96400" y="2613422"/>
            <a:ext cx="7962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A85E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共同痛點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105900" y="3470672"/>
            <a:ext cx="42005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dirty="0">
                <a:solidFill>
                  <a:srgbClr val="A85E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21%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9105900" y="4346972"/>
            <a:ext cx="440055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同一段路，不同時段耗時相差達 21%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05900" y="4954191"/>
            <a:ext cx="4400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「還有 3 站」可能是 1 分鐘，也可能是 4 分鐘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9105900" y="5335191"/>
            <a:ext cx="440055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站數不等於時間，這正是用戶最難被說服的地方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6750" y="6361509"/>
            <a:ext cx="12718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的答案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666750" y="7485459"/>
            <a:ext cx="394049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dirty="0">
                <a:solidFill>
                  <a:srgbClr val="1B4D8F">
                    <a:alpha val="2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666750" y="8209359"/>
            <a:ext cx="41281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6"/>
              </a:spcBef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目標用戶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666750" y="8561784"/>
            <a:ext cx="412813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澳門通勤學生與居民，含跨海通勤、口岸過關人群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7485459"/>
            <a:ext cx="394049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dirty="0">
                <a:solidFill>
                  <a:srgbClr val="1B4D8F">
                    <a:alpha val="2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5029200" y="8209359"/>
            <a:ext cx="41281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6"/>
              </a:spcBef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典型場景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5029200" y="8561784"/>
            <a:ext cx="412813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澳科大擎天匯宿舍 ↔ 學校 ↔ 橫琴口岸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91650" y="7485459"/>
            <a:ext cx="394049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dirty="0">
                <a:solidFill>
                  <a:srgbClr val="1B4D8F">
                    <a:alpha val="2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850" dirty="0"/>
          </a:p>
        </p:txBody>
      </p:sp>
      <p:sp>
        <p:nvSpPr>
          <p:cNvPr id="30" name="Text 28"/>
          <p:cNvSpPr/>
          <p:nvPr/>
        </p:nvSpPr>
        <p:spPr>
          <a:xfrm>
            <a:off x="9391650" y="8209359"/>
            <a:ext cx="41281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6"/>
              </a:spcBef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使用形態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9391650" y="8561784"/>
            <a:ext cx="412813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手機優先網頁應用，可添加到手機主屏幕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6250" y="9349978"/>
            <a:ext cx="698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四個關鍵詞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568053" y="9292828"/>
            <a:ext cx="1383030" cy="276225"/>
          </a:xfrm>
          <a:prstGeom prst="rect">
            <a:avLst/>
          </a:prstGeom>
          <a:noFill/>
          <a:ln/>
        </p:spPr>
        <p:txBody>
          <a:bodyPr wrap="square" lIns="133350" tIns="57150" rIns="133350" bIns="5715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導航與報站一體化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939653" y="9292828"/>
            <a:ext cx="838200" cy="276225"/>
          </a:xfrm>
          <a:prstGeom prst="rect">
            <a:avLst/>
          </a:prstGeom>
          <a:noFill/>
          <a:ln/>
        </p:spPr>
        <p:txBody>
          <a:bodyPr wrap="square" lIns="133350" tIns="57150" rIns="133350" bIns="5715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全澳覆蓋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3815953" y="9292828"/>
            <a:ext cx="1383030" cy="276225"/>
          </a:xfrm>
          <a:prstGeom prst="rect">
            <a:avLst/>
          </a:prstGeom>
          <a:noFill/>
          <a:ln/>
        </p:spPr>
        <p:txBody>
          <a:bodyPr wrap="square" lIns="133350" tIns="57150" rIns="133350" bIns="5715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自採實測數據驅動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5187553" y="9292828"/>
            <a:ext cx="838200" cy="276225"/>
          </a:xfrm>
          <a:prstGeom prst="rect">
            <a:avLst/>
          </a:prstGeom>
          <a:noFill/>
          <a:ln/>
        </p:spPr>
        <p:txBody>
          <a:bodyPr wrap="square" lIns="133350" tIns="57150" rIns="133350" bIns="5715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手機優先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2699147"/>
            <a:ext cx="4108400" cy="2612231"/>
          </a:xfrm>
          <a:prstGeom prst="roundRect">
            <a:avLst>
              <a:gd name="adj" fmla="val 437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04850" y="2927747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B4D8F"/>
          </a:solidFill>
          <a:ln/>
        </p:spPr>
      </p:sp>
      <p:sp>
        <p:nvSpPr>
          <p:cNvPr id="5" name="Shape 3"/>
          <p:cNvSpPr/>
          <p:nvPr/>
        </p:nvSpPr>
        <p:spPr>
          <a:xfrm>
            <a:off x="4851350" y="2699147"/>
            <a:ext cx="4108400" cy="2612231"/>
          </a:xfrm>
          <a:prstGeom prst="roundRect">
            <a:avLst>
              <a:gd name="adj" fmla="val 437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79950" y="2927747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B4D8F"/>
          </a:solidFill>
          <a:ln/>
        </p:spPr>
      </p:sp>
      <p:sp>
        <p:nvSpPr>
          <p:cNvPr id="7" name="Shape 5"/>
          <p:cNvSpPr/>
          <p:nvPr/>
        </p:nvSpPr>
        <p:spPr>
          <a:xfrm>
            <a:off x="9226451" y="2699147"/>
            <a:ext cx="4108549" cy="2612231"/>
          </a:xfrm>
          <a:prstGeom prst="roundRect">
            <a:avLst>
              <a:gd name="adj" fmla="val 437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55051" y="2927747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B4D8F"/>
          </a:solidFill>
          <a:ln/>
        </p:spPr>
      </p:sp>
      <p:sp>
        <p:nvSpPr>
          <p:cNvPr id="9" name="Shape 7"/>
          <p:cNvSpPr/>
          <p:nvPr/>
        </p:nvSpPr>
        <p:spPr>
          <a:xfrm>
            <a:off x="476250" y="5578078"/>
            <a:ext cx="6296025" cy="1771650"/>
          </a:xfrm>
          <a:prstGeom prst="roundRect">
            <a:avLst>
              <a:gd name="adj" fmla="val 6452"/>
            </a:avLst>
          </a:prstGeom>
          <a:solidFill>
            <a:srgbClr val="E6E9E4"/>
          </a:solidFill>
          <a:ln w="19050">
            <a:solidFill>
              <a:srgbClr val="9AA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8975" y="5578078"/>
            <a:ext cx="6296025" cy="1771650"/>
          </a:xfrm>
          <a:prstGeom prst="roundRect">
            <a:avLst>
              <a:gd name="adj" fmla="val 6452"/>
            </a:avLst>
          </a:prstGeom>
          <a:solidFill>
            <a:srgbClr val="E6E9E4"/>
          </a:solidFill>
          <a:ln w="19050">
            <a:solidFill>
              <a:srgbClr val="9AA5A0"/>
            </a:solidFill>
            <a:prstDash val="solid"/>
          </a:ln>
        </p:spPr>
      </p:sp>
      <p:pic>
        <p:nvPicPr>
          <p:cNvPr id="11" name="Image 0" descr="D:\Projects\University\Studio\musttoukou\.workbuddy\ppt-sep\frontend\dist-slides\html2pptx_tmp_all-slides\svg_179051970301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3032522"/>
            <a:ext cx="209550" cy="209550"/>
          </a:xfrm>
          <a:prstGeom prst="rect">
            <a:avLst/>
          </a:prstGeom>
        </p:spPr>
      </p:pic>
      <p:pic>
        <p:nvPicPr>
          <p:cNvPr id="12" name="Image 1" descr="D:\Projects\University\Studio\musttoukou\.workbuddy\ppt-sep\frontend\dist-slides\html2pptx_tmp_all-slides\svg_1790519703127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725" y="3032522"/>
            <a:ext cx="209550" cy="209550"/>
          </a:xfrm>
          <a:prstGeom prst="rect">
            <a:avLst/>
          </a:prstGeom>
        </p:spPr>
      </p:pic>
      <p:pic>
        <p:nvPicPr>
          <p:cNvPr id="13" name="Image 2" descr="D:\Projects\University\Studio\musttoukou\.workbuddy\ppt-sep\frontend\dist-slides\html2pptx_tmp_all-slides\svg_1790519703188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826" y="3032522"/>
            <a:ext cx="209550" cy="2095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6250" y="1344811"/>
            <a:ext cx="14144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功能全景（一）：從輸入到方案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476250" y="2137172"/>
            <a:ext cx="1414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三個動作，構成一次完整的出行決策</a:t>
            </a:r>
            <a:endParaRPr lang="en-US" sz="1125" dirty="0"/>
          </a:p>
        </p:txBody>
      </p:sp>
      <p:sp>
        <p:nvSpPr>
          <p:cNvPr id="16" name="Text 11"/>
          <p:cNvSpPr/>
          <p:nvPr/>
        </p:nvSpPr>
        <p:spPr>
          <a:xfrm>
            <a:off x="704850" y="3689747"/>
            <a:ext cx="40163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路線推薦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04850" y="4185047"/>
            <a:ext cx="3651200" cy="76438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輸入起點終點</a:t>
            </a:r>
            <a:endParaRPr lang="en-US" sz="1050" dirty="0"/>
          </a:p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生成多個方案對比</a:t>
            </a:r>
            <a:endParaRPr lang="en-US" sz="1050" dirty="0"/>
          </a:p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按門到門總時長排序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079950" y="3689747"/>
            <a:ext cx="40163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時間量化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79950" y="4185047"/>
            <a:ext cx="3651200" cy="4905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每一站顯示「約 X 分鐘」</a:t>
            </a:r>
            <a:endParaRPr lang="en-US" sz="1050" dirty="0"/>
          </a:p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而不只是「還有幾站」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455051" y="3689747"/>
            <a:ext cx="40164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方案對比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455051" y="4185047"/>
            <a:ext cx="3651349" cy="76438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總時長一目了然</a:t>
            </a:r>
            <a:endParaRPr lang="en-US" sz="1050" dirty="0"/>
          </a:p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換乘次數一目了然</a:t>
            </a:r>
            <a:endParaRPr lang="en-US" sz="1050" dirty="0"/>
          </a:p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步行距離一目了然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2700211" y="6342459"/>
            <a:ext cx="939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77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【 佔位框 】</a:t>
            </a:r>
            <a:endParaRPr lang="en-US" sz="1125" dirty="0"/>
          </a:p>
        </p:txBody>
      </p:sp>
      <p:sp>
        <p:nvSpPr>
          <p:cNvPr id="23" name="Text 18"/>
          <p:cNvSpPr/>
          <p:nvPr/>
        </p:nvSpPr>
        <p:spPr>
          <a:xfrm>
            <a:off x="9111578" y="6342459"/>
            <a:ext cx="939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77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【 佔位框 】</a:t>
            </a:r>
            <a:endParaRPr lang="en-US" sz="1125" dirty="0"/>
          </a:p>
        </p:txBody>
      </p:sp>
      <p:sp>
        <p:nvSpPr>
          <p:cNvPr id="24" name="Text 19"/>
          <p:cNvSpPr/>
          <p:nvPr/>
        </p:nvSpPr>
        <p:spPr>
          <a:xfrm>
            <a:off x="628650" y="7683103"/>
            <a:ext cx="3771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每一步都算進總時間，門到門才是一趟旅程的真實長度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26" name="Text 21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800100"/>
            <a:ext cx="28575" cy="7067550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4" name="Shape 2"/>
          <p:cNvSpPr/>
          <p:nvPr/>
        </p:nvSpPr>
        <p:spPr>
          <a:xfrm>
            <a:off x="771525" y="3184922"/>
            <a:ext cx="2112169" cy="1171575"/>
          </a:xfrm>
          <a:prstGeom prst="roundRect">
            <a:avLst>
              <a:gd name="adj" fmla="val 6504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97994" y="3184922"/>
            <a:ext cx="2112169" cy="1171575"/>
          </a:xfrm>
          <a:prstGeom prst="roundRect">
            <a:avLst>
              <a:gd name="adj" fmla="val 6504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24463" y="3184922"/>
            <a:ext cx="2112169" cy="1171575"/>
          </a:xfrm>
          <a:prstGeom prst="roundRect">
            <a:avLst>
              <a:gd name="adj" fmla="val 6504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50931" y="3184922"/>
            <a:ext cx="2112169" cy="1171575"/>
          </a:xfrm>
          <a:prstGeom prst="roundRect">
            <a:avLst>
              <a:gd name="adj" fmla="val 6504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1525" y="4546997"/>
            <a:ext cx="4300538" cy="2326481"/>
          </a:xfrm>
          <a:prstGeom prst="roundRect">
            <a:avLst>
              <a:gd name="adj" fmla="val 491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0125" y="4775597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B4D8F"/>
          </a:solidFill>
          <a:ln/>
        </p:spPr>
      </p:sp>
      <p:sp>
        <p:nvSpPr>
          <p:cNvPr id="10" name="Shape 8"/>
          <p:cNvSpPr/>
          <p:nvPr/>
        </p:nvSpPr>
        <p:spPr>
          <a:xfrm>
            <a:off x="5262563" y="4546997"/>
            <a:ext cx="4300538" cy="2326481"/>
          </a:xfrm>
          <a:prstGeom prst="roundRect">
            <a:avLst>
              <a:gd name="adj" fmla="val 491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91163" y="4775597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B4D8F"/>
          </a:solidFill>
          <a:ln/>
        </p:spPr>
      </p:sp>
      <p:sp>
        <p:nvSpPr>
          <p:cNvPr id="12" name="Shape 10"/>
          <p:cNvSpPr/>
          <p:nvPr/>
        </p:nvSpPr>
        <p:spPr>
          <a:xfrm>
            <a:off x="9906000" y="1790700"/>
            <a:ext cx="3429000" cy="2924175"/>
          </a:xfrm>
          <a:prstGeom prst="roundRect">
            <a:avLst>
              <a:gd name="adj" fmla="val 3909"/>
            </a:avLst>
          </a:prstGeom>
          <a:solidFill>
            <a:srgbClr val="E6E9E4"/>
          </a:solidFill>
          <a:ln w="19050">
            <a:solidFill>
              <a:srgbClr val="9AA5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06000" y="4943475"/>
            <a:ext cx="3429000" cy="2924175"/>
          </a:xfrm>
          <a:prstGeom prst="roundRect">
            <a:avLst>
              <a:gd name="adj" fmla="val 3909"/>
            </a:avLst>
          </a:prstGeom>
          <a:solidFill>
            <a:srgbClr val="E6E9E4"/>
          </a:solidFill>
          <a:ln w="19050">
            <a:solidFill>
              <a:srgbClr val="9AA5A0"/>
            </a:solidFill>
            <a:prstDash val="solid"/>
          </a:ln>
        </p:spPr>
      </p:sp>
      <p:pic>
        <p:nvPicPr>
          <p:cNvPr id="14" name="Image 0" descr="D:\Projects\University\Studio\musttoukou\.workbuddy\ppt-sep\frontend\dist-slides\html2pptx_tmp_all-slides\svg_179051970772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" y="4880372"/>
            <a:ext cx="209550" cy="209550"/>
          </a:xfrm>
          <a:prstGeom prst="rect">
            <a:avLst/>
          </a:prstGeom>
        </p:spPr>
      </p:pic>
      <p:pic>
        <p:nvPicPr>
          <p:cNvPr id="15" name="Image 1" descr="D:\Projects\University\Studio\musttoukou\.workbuddy\ppt-sep\frontend\dist-slides\html2pptx_tmp_all-slides\svg_1790519707856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38" y="4880372"/>
            <a:ext cx="209550" cy="2095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1525" y="1116211"/>
            <a:ext cx="967073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功能全景（二）：導航與報站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771525" y="1908572"/>
            <a:ext cx="9670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上車之後，手機變成一個會報站的嚮導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942975" y="2651522"/>
            <a:ext cx="21676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導航模式 · 站點四種狀態</a:t>
            </a:r>
            <a:endParaRPr lang="en-US" sz="1425" dirty="0"/>
          </a:p>
        </p:txBody>
      </p:sp>
      <p:sp>
        <p:nvSpPr>
          <p:cNvPr id="19" name="Text 15"/>
          <p:cNvSpPr/>
          <p:nvPr/>
        </p:nvSpPr>
        <p:spPr>
          <a:xfrm>
            <a:off x="791647" y="3661172"/>
            <a:ext cx="20719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已過站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91647" y="3975497"/>
            <a:ext cx="20719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弱化樣式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018115" y="3661172"/>
            <a:ext cx="20719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下一站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018115" y="3975497"/>
            <a:ext cx="20719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即將到達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244584" y="3661172"/>
            <a:ext cx="20719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下車站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244584" y="3975497"/>
            <a:ext cx="20719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準備下車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71053" y="3661172"/>
            <a:ext cx="20719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C0392B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到站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471053" y="3975497"/>
            <a:ext cx="20719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當前已到達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00125" y="5375672"/>
            <a:ext cx="42276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900"/>
              </a:spcAft>
              <a:buNone/>
            </a:pPr>
            <a:r>
              <a:rPr lang="en-US" sz="14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報站數據</a:t>
            </a:r>
            <a:endParaRPr lang="en-US" sz="1425" dirty="0"/>
          </a:p>
        </p:txBody>
      </p:sp>
      <p:sp>
        <p:nvSpPr>
          <p:cNvPr id="28" name="Text 24"/>
          <p:cNvSpPr/>
          <p:nvPr/>
        </p:nvSpPr>
        <p:spPr>
          <a:xfrm>
            <a:off x="1000125" y="5747147"/>
            <a:ext cx="3843338" cy="49053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接入澳門交通事務局官方報站</a:t>
            </a:r>
            <a:endParaRPr lang="en-US" sz="1050" dirty="0"/>
          </a:p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實時顯示車輛還有幾站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491163" y="5375672"/>
            <a:ext cx="42276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900"/>
              </a:spcAft>
              <a:buNone/>
            </a:pPr>
            <a:r>
              <a:rPr lang="en-US" sz="14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實時地圖</a:t>
            </a:r>
            <a:endParaRPr lang="en-US" sz="1425" dirty="0"/>
          </a:p>
        </p:txBody>
      </p:sp>
      <p:sp>
        <p:nvSpPr>
          <p:cNvPr id="30" name="Text 26"/>
          <p:cNvSpPr/>
          <p:nvPr/>
        </p:nvSpPr>
        <p:spPr>
          <a:xfrm>
            <a:off x="5491163" y="5747147"/>
            <a:ext cx="3843338" cy="76438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三檔可調面板</a:t>
            </a:r>
            <a:endParaRPr lang="en-US" sz="1050" dirty="0"/>
          </a:p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車輛實時位置</a:t>
            </a:r>
            <a:endParaRPr lang="en-US" sz="1050" dirty="0"/>
          </a:p>
          <a:p>
            <a:pPr algn="l" marL="190500" indent="-190500">
              <a:lnSpc>
                <a:spcPts val="1706"/>
              </a:lnSpc>
              <a:buSzPct val="100000"/>
              <a:buChar char="•"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路線走向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10620695" y="3131344"/>
            <a:ext cx="939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77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【 佔位框 】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10696448" y="6284119"/>
            <a:ext cx="939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77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【 佔位框 】</a:t>
            </a:r>
            <a:endParaRPr lang="en-US" sz="1125" dirty="0"/>
          </a:p>
        </p:txBody>
      </p:sp>
      <p:sp>
        <p:nvSpPr>
          <p:cNvPr id="33" name="Text 29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34" name="Text 30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1127522"/>
            <a:ext cx="666750" cy="2857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175272"/>
            <a:ext cx="12858750" cy="2428875"/>
          </a:xfrm>
          <a:prstGeom prst="roundRect">
            <a:avLst>
              <a:gd name="adj" fmla="val 470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2175272"/>
            <a:ext cx="12858750" cy="71437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6049566"/>
            <a:ext cx="3962400" cy="1190625"/>
          </a:xfrm>
          <a:prstGeom prst="roundRect">
            <a:avLst>
              <a:gd name="adj" fmla="val 64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19700" y="6049566"/>
            <a:ext cx="3962400" cy="1190625"/>
          </a:xfrm>
          <a:prstGeom prst="roundRect">
            <a:avLst>
              <a:gd name="adj" fmla="val 6400"/>
            </a:avLst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8" name="Image 0" descr="D:\Projects\University\Studio\musttoukou\.workbuddy\ppt-sep\frontend\dist-slides\html2pptx_tmp_all-slides\svg_179051971252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350" y="7302103"/>
            <a:ext cx="24765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6250" y="335161"/>
            <a:ext cx="14144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數據驅動：數據是怎麼採集的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66750" y="1603772"/>
            <a:ext cx="1990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兩條採集線，兩種頻率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704850" y="2441972"/>
            <a:ext cx="30332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數據類型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19537" y="2441972"/>
            <a:ext cx="18545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採集頻率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62663" y="2441972"/>
            <a:ext cx="77481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記錄內容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04850" y="3223022"/>
            <a:ext cx="3033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報站數據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3919537" y="3223022"/>
            <a:ext cx="18545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每 5 秒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6062663" y="3223022"/>
            <a:ext cx="774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車輛當前所在站、到站與離站狀態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704850" y="4080272"/>
            <a:ext cx="3033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位置數據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3919537" y="4080272"/>
            <a:ext cx="18545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每 15 秒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6062663" y="4080272"/>
            <a:ext cx="77481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車輛實時經緯度與行駛速度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476250" y="4718447"/>
            <a:ext cx="1414462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9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數據來源為澳門交通事務局（DSAT）官方報站接口，本項目唯一數據源；自建輪詢採集程序持續追蹤車輛動態。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6750" y="5478066"/>
            <a:ext cx="17916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A85E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為什麼要處理經緯度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666750" y="6354366"/>
            <a:ext cx="3939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DSAT 返回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6750" y="6668691"/>
            <a:ext cx="39395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WGS84 國際標準坐標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5410200" y="6354366"/>
            <a:ext cx="3939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地圖顯示需要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10200" y="6668691"/>
            <a:ext cx="39395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GCJ-02 坐標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9563100" y="6354366"/>
            <a:ext cx="3939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85E00">
                    <a:alpha val="70000"/>
                  </a:srgbClr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若不轉換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563100" y="6659166"/>
            <a:ext cx="39395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85E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兩者相差可達數百米，車輛會顯示在錯誤位置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47750" y="597217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12510641" y="598170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2432447"/>
            <a:ext cx="8077200" cy="6310908"/>
          </a:xfrm>
          <a:prstGeom prst="roundRect">
            <a:avLst>
              <a:gd name="adj" fmla="val 181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58250" y="3184922"/>
            <a:ext cx="4476750" cy="1356122"/>
          </a:xfrm>
          <a:prstGeom prst="roundRect">
            <a:avLst>
              <a:gd name="adj" fmla="val 5619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58250" y="4655344"/>
            <a:ext cx="4476750" cy="1147167"/>
          </a:xfrm>
          <a:prstGeom prst="roundRect">
            <a:avLst>
              <a:gd name="adj" fmla="val 664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58250" y="5916811"/>
            <a:ext cx="4476750" cy="1356122"/>
          </a:xfrm>
          <a:prstGeom prst="roundRect">
            <a:avLst>
              <a:gd name="adj" fmla="val 5619"/>
            </a:avLst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7" name="Image 0" descr="D:\Projects\University\Studio\musttoukou\.workbuddy\ppt-sep\frontend\dist-slides\html2pptx_tmp_all-slides\svg_179051971710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2622947"/>
            <a:ext cx="7696200" cy="304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6250" y="1116211"/>
            <a:ext cx="14144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數據分析：巴士速度的時段規律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76250" y="1908572"/>
            <a:ext cx="1414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縱軸為相對平峰的耗時倍數，1.0 為平峰基準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9048750" y="2613422"/>
            <a:ext cx="7962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關鍵發現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9010650" y="3489722"/>
            <a:ext cx="4589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真實晚高峰是 16 點至 19 點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10650" y="3842147"/>
            <a:ext cx="458914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而非一般認為的 17 點至 20 點——16 點已進入慢速區間，19 點已經回落。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9010650" y="4960144"/>
            <a:ext cx="4589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週末早晨比工作日快 21%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010650" y="5312569"/>
            <a:ext cx="458914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0.92 對 1.15，必須分開統計，否則兩邊都不準。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9010650" y="6221611"/>
            <a:ext cx="4589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據此設計的時段劃分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10650" y="6574036"/>
            <a:ext cx="458914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工作日：07–09、09–16、16–20、20–07 四段；週末與節假日只有早晨 07–09 單獨統計，其餘時段合併使用。</a:t>
            </a:r>
            <a:endParaRPr lang="en-US" sz="1013" dirty="0"/>
          </a:p>
        </p:txBody>
      </p:sp>
      <p:sp>
        <p:nvSpPr>
          <p:cNvPr id="17" name="Text 14"/>
          <p:cNvSpPr/>
          <p:nvPr/>
        </p:nvSpPr>
        <p:spPr>
          <a:xfrm>
            <a:off x="9010650" y="7692033"/>
            <a:ext cx="4589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驗證方法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010650" y="8044458"/>
            <a:ext cx="458914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8 組對比實驗、滾動式交叉驗證 20 輪。結論：週末分時段反而更差，工作日分時段才有效——因此採用不對稱劃分。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1908572"/>
            <a:ext cx="666750" cy="2857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4488061"/>
            <a:ext cx="7258050" cy="1131094"/>
          </a:xfrm>
          <a:prstGeom prst="roundRect">
            <a:avLst>
              <a:gd name="adj" fmla="val 6737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6438602"/>
            <a:ext cx="7258050" cy="1019175"/>
          </a:xfrm>
          <a:prstGeom prst="roundRect">
            <a:avLst>
              <a:gd name="adj" fmla="val 7477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0" y="3191321"/>
            <a:ext cx="5334000" cy="3686175"/>
          </a:xfrm>
          <a:prstGeom prst="roundRect">
            <a:avLst>
              <a:gd name="adj" fmla="val 310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191321"/>
            <a:ext cx="5334000" cy="65722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8" name="Text 6"/>
          <p:cNvSpPr/>
          <p:nvPr/>
        </p:nvSpPr>
        <p:spPr>
          <a:xfrm>
            <a:off x="476250" y="1116211"/>
            <a:ext cx="14144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時間量化：把「還有 N 站」變成「約 X 分鐘」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8650" y="2832646"/>
            <a:ext cx="764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5E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問題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28650" y="3166021"/>
            <a:ext cx="764857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官方只給「還有幾站」，但站數不等於時間——「還有 3 站」可能是 1 分鐘，也可能是 4 分鐘。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8650" y="4783336"/>
            <a:ext cx="764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做法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28650" y="5116711"/>
            <a:ext cx="764857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用 18.3 萬條自採站間實測記錄，按「星期 + 時段 + 節假日」分層統計，逐段累加算出「約 X 分鐘」。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8650" y="6733877"/>
            <a:ext cx="764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七層回退，保證任何情況都有值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28650" y="7067252"/>
            <a:ext cx="890587" cy="23812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本線同時段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514475" y="7114877"/>
            <a:ext cx="130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>
                    <a:alpha val="40000"/>
                  </a:srgbClr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714500" y="7067252"/>
            <a:ext cx="754380" cy="23812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本線全週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2476500" y="7114877"/>
            <a:ext cx="130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>
                    <a:alpha val="40000"/>
                  </a:srgbClr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676525" y="7067252"/>
            <a:ext cx="754380" cy="23812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本線全部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438525" y="7114877"/>
            <a:ext cx="130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>
                    <a:alpha val="40000"/>
                  </a:srgbClr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638550" y="7067252"/>
            <a:ext cx="890587" cy="23812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跨線同時段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524375" y="7114877"/>
            <a:ext cx="130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>
                    <a:alpha val="40000"/>
                  </a:srgbClr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724400" y="7067252"/>
            <a:ext cx="754380" cy="23812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跨線全部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486400" y="7114877"/>
            <a:ext cx="130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>
                    <a:alpha val="40000"/>
                  </a:srgbClr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686425" y="7067252"/>
            <a:ext cx="754380" cy="23812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單段均值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448425" y="7114877"/>
            <a:ext cx="130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>
                    <a:alpha val="40000"/>
                  </a:srgbClr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648450" y="7067252"/>
            <a:ext cx="754380" cy="23812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全局均值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191500" y="2425005"/>
            <a:ext cx="29860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實測效果（用歷史數據預測未來）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8153400" y="3434209"/>
            <a:ext cx="1620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指標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9860176" y="3434209"/>
            <a:ext cx="726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改善前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10749282" y="3434209"/>
            <a:ext cx="7263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改善後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11635688" y="3434209"/>
            <a:ext cx="1620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改善幅度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8153400" y="4258121"/>
            <a:ext cx="16204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剩餘 3 站誤差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860176" y="4258121"/>
            <a:ext cx="7265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1.095 分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0749282" y="4258121"/>
            <a:ext cx="726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0.835 分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2081949" y="4243834"/>
            <a:ext cx="727903" cy="2190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↓ 23.8%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8153400" y="5267771"/>
            <a:ext cx="16204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剩餘 4 站誤差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860176" y="5267771"/>
            <a:ext cx="7265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1.375 分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0749282" y="5267771"/>
            <a:ext cx="726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1.037 分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2081949" y="5253484"/>
            <a:ext cx="727903" cy="2190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↓ 24.6%</a:t>
            </a:r>
            <a:endParaRPr lang="en-US" sz="1013" dirty="0"/>
          </a:p>
        </p:txBody>
      </p:sp>
      <p:sp>
        <p:nvSpPr>
          <p:cNvPr id="40" name="Text 38"/>
          <p:cNvSpPr/>
          <p:nvPr/>
        </p:nvSpPr>
        <p:spPr>
          <a:xfrm>
            <a:off x="8153400" y="6277421"/>
            <a:ext cx="16204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系統性多報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9860176" y="6277421"/>
            <a:ext cx="7265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+0.44 分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0749282" y="6277421"/>
            <a:ext cx="726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+0.03 分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1895832" y="6248846"/>
            <a:ext cx="1100138" cy="2476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基本不再多報</a:t>
            </a:r>
            <a:endParaRPr lang="en-US" sz="1013" dirty="0"/>
          </a:p>
        </p:txBody>
      </p:sp>
      <p:sp>
        <p:nvSpPr>
          <p:cNvPr id="44" name="Text 42"/>
          <p:cNvSpPr/>
          <p:nvPr/>
        </p:nvSpPr>
        <p:spPr>
          <a:xfrm>
            <a:off x="8001000" y="7224861"/>
            <a:ext cx="5867400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spcBef>
                <a:spcPts val="90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驗證方式：以截止某時間點之前的樣本訓練，去預測其後的實際到站時刻，屬「真預測」而非事後擬合。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382000" y="3072408"/>
            <a:ext cx="4953000" cy="2181225"/>
          </a:xfrm>
          <a:prstGeom prst="roundRect">
            <a:avLst>
              <a:gd name="adj" fmla="val 524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82000" y="3072408"/>
            <a:ext cx="4953000" cy="65722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5" name="Shape 3"/>
          <p:cNvSpPr/>
          <p:nvPr/>
        </p:nvSpPr>
        <p:spPr>
          <a:xfrm>
            <a:off x="8382000" y="5406033"/>
            <a:ext cx="4953000" cy="1157734"/>
          </a:xfrm>
          <a:prstGeom prst="roundRect">
            <a:avLst>
              <a:gd name="adj" fmla="val 658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82000" y="6678067"/>
            <a:ext cx="4953000" cy="1157734"/>
          </a:xfrm>
          <a:prstGeom prst="roundRect">
            <a:avLst>
              <a:gd name="adj" fmla="val 658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6250" y="1100435"/>
            <a:ext cx="1414462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spcBef>
                <a:spcPts val="2366"/>
              </a:spcBef>
              <a:spcAft>
                <a:spcPts val="2366"/>
              </a:spcAft>
              <a:buNone/>
            </a:pPr>
            <a:r>
              <a:rPr lang="en-US" sz="285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巴士區間進度模型：判定「車開到哪了」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476250" y="1853208"/>
            <a:ext cx="1414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用經緯度投影融合位置與時間，把跨海誤差從 2.11 分壓到 0.28 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50" y="2693789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28092" y="2779514"/>
            <a:ext cx="4400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問題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76250" y="3379589"/>
            <a:ext cx="8361045" cy="464344"/>
          </a:xfrm>
          <a:prstGeom prst="rect">
            <a:avLst/>
          </a:prstGeom>
          <a:noFill/>
          <a:ln/>
        </p:spPr>
        <p:txBody>
          <a:bodyPr wrap="square" lIns="45720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車輛在兩站之間時，系統只知道「在區間內」，不知道具體位置，只能按整段估算——跨海路段平均誤差 2.11 分鐘。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76250" y="4544169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28092" y="4629894"/>
            <a:ext cx="24203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原理：用經緯度投影定位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476250" y="5229969"/>
            <a:ext cx="8361045" cy="464344"/>
          </a:xfrm>
          <a:prstGeom prst="rect">
            <a:avLst/>
          </a:prstGeom>
          <a:noFill/>
          <a:ln/>
        </p:spPr>
        <p:txBody>
          <a:bodyPr wrap="square" lIns="45720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把車輛的實時坐標投影到線路的行駛軌跡上，算出這一段已經走了幾成。</a:t>
            </a:r>
            <a:endParaRPr lang="en-US" sz="1125" dirty="0"/>
          </a:p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 行駛進度 =（車輛所在位置 − 起點站）÷（終點站 − 起點站）。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6250" y="6394698"/>
            <a:ext cx="3544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28092" y="6480423"/>
            <a:ext cx="3300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模型：位置信息與已行駛時間融合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476250" y="7080498"/>
            <a:ext cx="8361045" cy="232172"/>
          </a:xfrm>
          <a:prstGeom prst="rect">
            <a:avLst/>
          </a:prstGeom>
          <a:noFill/>
          <a:ln/>
        </p:spPr>
        <p:txBody>
          <a:bodyPr wrap="square" lIns="45720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剩餘時間 = 權重 × 位置推算 +（1 − 權重）× 時間相減；權重依路段長短調整。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57250" y="7407920"/>
            <a:ext cx="75110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短段 0.6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635323" y="7407920"/>
            <a:ext cx="75110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中段 0.5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2413397" y="7407920"/>
            <a:ext cx="826904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長段 0.15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8572500" y="2539008"/>
            <a:ext cx="1990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效果驗證（嚴格對比）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8534400" y="3315295"/>
            <a:ext cx="1480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指標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10075500" y="3315295"/>
            <a:ext cx="740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改善前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10900894" y="3315295"/>
            <a:ext cx="7404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改善後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11768993" y="3315295"/>
            <a:ext cx="1480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改善幅度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8534400" y="4020145"/>
            <a:ext cx="14807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全局誤差</a:t>
            </a:r>
            <a:endParaRPr lang="en-US" sz="1088" dirty="0"/>
          </a:p>
        </p:txBody>
      </p:sp>
      <p:sp>
        <p:nvSpPr>
          <p:cNvPr id="27" name="Text 25"/>
          <p:cNvSpPr/>
          <p:nvPr/>
        </p:nvSpPr>
        <p:spPr>
          <a:xfrm>
            <a:off x="10075500" y="4020145"/>
            <a:ext cx="7403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1.13 分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10900894" y="4020145"/>
            <a:ext cx="740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0.44 分</a:t>
            </a:r>
            <a:endParaRPr lang="en-US" sz="1088" dirty="0"/>
          </a:p>
        </p:txBody>
      </p:sp>
      <p:sp>
        <p:nvSpPr>
          <p:cNvPr id="29" name="Text 27"/>
          <p:cNvSpPr/>
          <p:nvPr/>
        </p:nvSpPr>
        <p:spPr>
          <a:xfrm>
            <a:off x="12201607" y="4001095"/>
            <a:ext cx="615389" cy="2190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↓ 61%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8534400" y="4782145"/>
            <a:ext cx="14807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跨海路段</a:t>
            </a:r>
            <a:endParaRPr lang="en-US" sz="1088" dirty="0"/>
          </a:p>
        </p:txBody>
      </p:sp>
      <p:sp>
        <p:nvSpPr>
          <p:cNvPr id="31" name="Text 29"/>
          <p:cNvSpPr/>
          <p:nvPr/>
        </p:nvSpPr>
        <p:spPr>
          <a:xfrm>
            <a:off x="10075500" y="4782145"/>
            <a:ext cx="7403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2.11 分</a:t>
            </a:r>
            <a:endParaRPr lang="en-US" sz="1088" dirty="0"/>
          </a:p>
        </p:txBody>
      </p:sp>
      <p:sp>
        <p:nvSpPr>
          <p:cNvPr id="32" name="Text 30"/>
          <p:cNvSpPr/>
          <p:nvPr/>
        </p:nvSpPr>
        <p:spPr>
          <a:xfrm>
            <a:off x="10900894" y="4782145"/>
            <a:ext cx="740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0.28 分</a:t>
            </a:r>
            <a:endParaRPr lang="en-US" sz="1088" dirty="0"/>
          </a:p>
        </p:txBody>
      </p:sp>
      <p:sp>
        <p:nvSpPr>
          <p:cNvPr id="33" name="Text 31"/>
          <p:cNvSpPr/>
          <p:nvPr/>
        </p:nvSpPr>
        <p:spPr>
          <a:xfrm>
            <a:off x="12201607" y="4763095"/>
            <a:ext cx="615389" cy="2190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↓ 87%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8686800" y="5754737"/>
            <a:ext cx="254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46"/>
              </a:spcBef>
              <a:spcAft>
                <a:spcPts val="300"/>
              </a:spcAft>
              <a:buNone/>
            </a:pPr>
            <a:r>
              <a:rPr lang="en-US" sz="1163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越走越準</a:t>
            </a:r>
            <a:endParaRPr lang="en-US" sz="1163" dirty="0"/>
          </a:p>
        </p:txBody>
      </p:sp>
      <p:sp>
        <p:nvSpPr>
          <p:cNvPr id="35" name="Text 33"/>
          <p:cNvSpPr/>
          <p:nvPr/>
        </p:nvSpPr>
        <p:spPr>
          <a:xfrm>
            <a:off x="8686800" y="6073825"/>
            <a:ext cx="254668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誤差隨行駛進度從 0.59 分收窄到 0.28 分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8686800" y="7026771"/>
            <a:ext cx="2829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46"/>
              </a:spcBef>
              <a:spcAft>
                <a:spcPts val="300"/>
              </a:spcAft>
              <a:buNone/>
            </a:pPr>
            <a:r>
              <a:rPr lang="en-US" sz="1163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抗干擾</a:t>
            </a:r>
            <a:endParaRPr lang="en-US" sz="1163" dirty="0"/>
          </a:p>
        </p:txBody>
      </p:sp>
      <p:sp>
        <p:nvSpPr>
          <p:cNvPr id="37" name="Text 35"/>
          <p:cNvSpPr/>
          <p:nvPr/>
        </p:nvSpPr>
        <p:spPr>
          <a:xfrm>
            <a:off x="8686800" y="7345859"/>
            <a:ext cx="282958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加入模擬噪聲後 0.54 → 0.55 分，可安全上線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3876675"/>
            <a:ext cx="8324850" cy="1491109"/>
          </a:xfrm>
          <a:prstGeom prst="roundRect">
            <a:avLst>
              <a:gd name="adj" fmla="val 766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8650" y="402907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B4D8F"/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5501134"/>
            <a:ext cx="8324850" cy="1491109"/>
          </a:xfrm>
          <a:prstGeom prst="roundRect">
            <a:avLst>
              <a:gd name="adj" fmla="val 766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8650" y="565353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B4D8F"/>
          </a:solidFill>
          <a:ln/>
        </p:spPr>
      </p:sp>
      <p:sp>
        <p:nvSpPr>
          <p:cNvPr id="7" name="Shape 5"/>
          <p:cNvSpPr/>
          <p:nvPr/>
        </p:nvSpPr>
        <p:spPr>
          <a:xfrm>
            <a:off x="476250" y="7125593"/>
            <a:ext cx="8324850" cy="1491109"/>
          </a:xfrm>
          <a:prstGeom prst="roundRect">
            <a:avLst>
              <a:gd name="adj" fmla="val 766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8650" y="7277993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B4D8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0" y="3895725"/>
            <a:ext cx="4191000" cy="1249710"/>
          </a:xfrm>
          <a:prstGeom prst="roundRect">
            <a:avLst>
              <a:gd name="adj" fmla="val 914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0" y="5297835"/>
            <a:ext cx="4191000" cy="1249710"/>
          </a:xfrm>
          <a:prstGeom prst="roundRect">
            <a:avLst>
              <a:gd name="adj" fmla="val 914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6250" y="1116211"/>
            <a:ext cx="14144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核心架構：候選來自地圖，時間與排序自研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6750" y="2318147"/>
            <a:ext cx="1372552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設計原則：「路線候選主要來自高德地圖，時間由我們算，順序由我們排」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66750" y="3286125"/>
            <a:ext cx="7962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三層架構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800993" y="4119562"/>
            <a:ext cx="1181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4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8250" y="4244429"/>
            <a:ext cx="81514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6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路線候選生成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238250" y="4592092"/>
            <a:ext cx="815149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高德地圖公交接口 + 自建路網補充搜尋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1238250" y="4929634"/>
            <a:ext cx="8151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 用商業接口保證覆蓋率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00993" y="5744021"/>
            <a:ext cx="1181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4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8250" y="5868888"/>
            <a:ext cx="81514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6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時間計算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238250" y="6216551"/>
            <a:ext cx="815149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本項目用自採實測數據逐段重算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1238250" y="6554093"/>
            <a:ext cx="8151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 用自有數據保證精度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00993" y="7368480"/>
            <a:ext cx="1181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4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8250" y="7493347"/>
            <a:ext cx="81514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96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方案排序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238250" y="7841010"/>
            <a:ext cx="815149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本項目按門到門總時長升序排列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1238250" y="8178552"/>
            <a:ext cx="8151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A85E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 差異化所在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334500" y="3286125"/>
            <a:ext cx="13935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工程取捨的智慧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334500" y="4288780"/>
            <a:ext cx="4191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96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不重複造輪子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34500" y="4617393"/>
            <a:ext cx="419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不重複開發路線規劃引擎，避免巨大的工程量與維護負擔。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9334500" y="5690890"/>
            <a:ext cx="4191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96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比地圖更懂時間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34500" y="6019502"/>
            <a:ext cx="419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因為時間自己算，能給出地圖沒有提供的更優方案。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9334500" y="7093000"/>
            <a:ext cx="4191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96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有正式的降級路徑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34500" y="7421612"/>
            <a:ext cx="419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地圖接口失敗時，改用自建路網出方案，應用不會失效。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1908572"/>
            <a:ext cx="666750" cy="2857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127647"/>
            <a:ext cx="12858750" cy="1628775"/>
          </a:xfrm>
          <a:prstGeom prst="roundRect">
            <a:avLst>
              <a:gd name="adj" fmla="val 701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4661297"/>
            <a:ext cx="6315075" cy="3206353"/>
          </a:xfrm>
          <a:prstGeom prst="roundRect">
            <a:avLst>
              <a:gd name="adj" fmla="val 356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9925" y="4661297"/>
            <a:ext cx="6315075" cy="3206353"/>
          </a:xfrm>
          <a:prstGeom prst="roundRect">
            <a:avLst>
              <a:gd name="adj" fmla="val 356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6250" y="1116211"/>
            <a:ext cx="14144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風控合規：非商業、合規、可持續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57250" y="2499122"/>
            <a:ext cx="41805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數據合規四條紅線（已落地在應用「幫助」頁）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318724" y="2537222"/>
            <a:ext cx="42083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依據：澳門交通事務局網站使用條款（2009-10-28）第 3、5、6、7 條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19150" y="3203972"/>
            <a:ext cx="24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62050" y="3227784"/>
            <a:ext cx="7596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非商業用途</a:t>
            </a:r>
            <a:endParaRPr lang="en-US" sz="1088" dirty="0"/>
          </a:p>
        </p:txBody>
      </p:sp>
      <p:sp>
        <p:nvSpPr>
          <p:cNvPr id="12" name="Text 10"/>
          <p:cNvSpPr/>
          <p:nvPr/>
        </p:nvSpPr>
        <p:spPr>
          <a:xfrm>
            <a:off x="3976687" y="3203972"/>
            <a:ext cx="24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9588" y="3227784"/>
            <a:ext cx="13673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註明來源與取得日期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7134225" y="3203972"/>
            <a:ext cx="24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77125" y="3227784"/>
            <a:ext cx="10634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不修改原始數據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10291763" y="3203972"/>
            <a:ext cx="24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34663" y="3227784"/>
            <a:ext cx="12153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派生值須說明算法</a:t>
            </a:r>
            <a:endParaRPr lang="en-US" sz="1088" dirty="0"/>
          </a:p>
        </p:txBody>
      </p:sp>
      <p:sp>
        <p:nvSpPr>
          <p:cNvPr id="18" name="Text 16"/>
          <p:cNvSpPr/>
          <p:nvPr/>
        </p:nvSpPr>
        <p:spPr>
          <a:xfrm>
            <a:off x="666750" y="4127897"/>
            <a:ext cx="13935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對官方接口友好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838200" y="4985147"/>
            <a:ext cx="352044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不做自動輪詢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——頁面關閉即停止，無人訪問時零請求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8200" y="5601891"/>
            <a:ext cx="2901449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熔斷機制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——連續 3 次失敗自動停止 30 分鐘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8200" y="6218634"/>
            <a:ext cx="3618503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請求總量設上限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——每日有配額，手動刷新有 10 秒冷卻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10425" y="4127897"/>
            <a:ext cx="7962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A85E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工程風控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7381875" y="4985147"/>
            <a:ext cx="264033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數據庫操作保護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——改動數據需顯式授權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81875" y="5601891"/>
            <a:ext cx="308038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每日自動備份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——防止誤操作造成的不可逆損失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81875" y="6218634"/>
            <a:ext cx="308038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安全防護預設拒絕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——未授權訪問一律擋在門外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81875" y="6835378"/>
            <a:ext cx="29337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密鑰與口令不入庫</a:t>
            </a:r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——一律不寫入代碼或文檔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1908572"/>
            <a:ext cx="666750" cy="2857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842022"/>
            <a:ext cx="5905500" cy="3581400"/>
          </a:xfrm>
          <a:prstGeom prst="roundRect">
            <a:avLst>
              <a:gd name="adj" fmla="val 319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2842022"/>
            <a:ext cx="5905500" cy="581025"/>
          </a:xfrm>
          <a:prstGeom prst="rect">
            <a:avLst/>
          </a:prstGeom>
          <a:solidFill>
            <a:srgbClr val="1B4D8F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6575822"/>
            <a:ext cx="2876550" cy="1219200"/>
          </a:xfrm>
          <a:prstGeom prst="roundRect">
            <a:avLst>
              <a:gd name="adj" fmla="val 9375"/>
            </a:avLst>
          </a:prstGeom>
          <a:solidFill>
            <a:srgbClr val="E6E9E4"/>
          </a:solidFill>
          <a:ln w="19050">
            <a:solidFill>
              <a:srgbClr val="9A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05200" y="6575822"/>
            <a:ext cx="2876550" cy="1219200"/>
          </a:xfrm>
          <a:prstGeom prst="roundRect">
            <a:avLst>
              <a:gd name="adj" fmla="val 9375"/>
            </a:avLst>
          </a:prstGeom>
          <a:solidFill>
            <a:srgbClr val="E6E9E4"/>
          </a:solidFill>
          <a:ln w="19050">
            <a:solidFill>
              <a:srgbClr val="9AA5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86550" y="2127647"/>
            <a:ext cx="6648450" cy="1273373"/>
          </a:xfrm>
          <a:prstGeom prst="roundRect">
            <a:avLst>
              <a:gd name="adj" fmla="val 897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86550" y="3553420"/>
            <a:ext cx="6648450" cy="1380530"/>
          </a:xfrm>
          <a:prstGeom prst="roundRect">
            <a:avLst>
              <a:gd name="adj" fmla="val 8279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6250" y="1116211"/>
            <a:ext cx="14144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美術設計：取自澳門的視覺語言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6750" y="2308622"/>
            <a:ext cx="7962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品牌配色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28650" y="3046809"/>
            <a:ext cx="12887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色彩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2105025" y="3046809"/>
            <a:ext cx="12887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色值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3581400" y="3046809"/>
            <a:ext cx="29127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F2F4F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用途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876300" y="3632597"/>
            <a:ext cx="4557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青花藍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2105025" y="3642122"/>
            <a:ext cx="1230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#1b4d8f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81400" y="3632597"/>
            <a:ext cx="2912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主色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6300" y="4232672"/>
            <a:ext cx="3038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深藍</a:t>
            </a:r>
            <a:endParaRPr lang="en-US" sz="1088" dirty="0"/>
          </a:p>
        </p:txBody>
      </p:sp>
      <p:sp>
        <p:nvSpPr>
          <p:cNvPr id="19" name="Text 17"/>
          <p:cNvSpPr/>
          <p:nvPr/>
        </p:nvSpPr>
        <p:spPr>
          <a:xfrm>
            <a:off x="2105025" y="4242197"/>
            <a:ext cx="1230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#16406f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81400" y="4232672"/>
            <a:ext cx="2912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輔色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6300" y="4832747"/>
            <a:ext cx="3038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紙白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2105025" y="4842272"/>
            <a:ext cx="1230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#f2f4f0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81400" y="4832747"/>
            <a:ext cx="2912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背景（刻意避開米黃色，保持清爽）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6300" y="5432822"/>
            <a:ext cx="4557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成功綠</a:t>
            </a:r>
            <a:endParaRPr lang="en-US" sz="1088" dirty="0"/>
          </a:p>
        </p:txBody>
      </p:sp>
      <p:sp>
        <p:nvSpPr>
          <p:cNvPr id="25" name="Text 23"/>
          <p:cNvSpPr/>
          <p:nvPr/>
        </p:nvSpPr>
        <p:spPr>
          <a:xfrm>
            <a:off x="2105025" y="5442347"/>
            <a:ext cx="1230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#0b6e4f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81400" y="5432822"/>
            <a:ext cx="2912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點綴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6300" y="6032897"/>
            <a:ext cx="4557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警示橙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2105025" y="6042422"/>
            <a:ext cx="1230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16406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#a85e00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81400" y="6032897"/>
            <a:ext cx="2912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點綴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9115" y="7063978"/>
            <a:ext cx="939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77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【 佔位框 】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019423" y="7063978"/>
            <a:ext cx="939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77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【 佔位框 】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6877050" y="2527102"/>
            <a:ext cx="68941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46"/>
              </a:spcBef>
              <a:spcAft>
                <a:spcPts val="750"/>
              </a:spcAft>
              <a:buNone/>
            </a:pPr>
            <a:r>
              <a:rPr lang="en-US" sz="1238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品牌資產</a:t>
            </a:r>
            <a:endParaRPr lang="en-US" sz="1238" dirty="0"/>
          </a:p>
        </p:txBody>
      </p:sp>
      <p:sp>
        <p:nvSpPr>
          <p:cNvPr id="33" name="Text 31"/>
          <p:cNvSpPr/>
          <p:nvPr/>
        </p:nvSpPr>
        <p:spPr>
          <a:xfrm>
            <a:off x="6877050" y="2860477"/>
            <a:ext cx="689419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完整組合標誌、純圖標、起點紅色定位釘、終點綠色定位釘——一套資產覆蓋所有使用場景。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77050" y="3952875"/>
            <a:ext cx="68941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46"/>
              </a:spcBef>
              <a:spcAft>
                <a:spcPts val="900"/>
              </a:spcAft>
              <a:buNone/>
            </a:pPr>
            <a:r>
              <a:rPr lang="en-US" sz="1238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導航視覺四種狀態</a:t>
            </a:r>
            <a:endParaRPr lang="en-US" sz="1238" dirty="0"/>
          </a:p>
        </p:txBody>
      </p:sp>
      <p:sp>
        <p:nvSpPr>
          <p:cNvPr id="35" name="Text 33"/>
          <p:cNvSpPr/>
          <p:nvPr/>
        </p:nvSpPr>
        <p:spPr>
          <a:xfrm>
            <a:off x="7105650" y="4267200"/>
            <a:ext cx="1173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已過站點（灰色）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296525" y="4267200"/>
            <a:ext cx="10267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下一站（藍色）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05650" y="4562475"/>
            <a:ext cx="10267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下車站（綠色）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296525" y="4562475"/>
            <a:ext cx="8801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到站（紅色）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77050" y="5485805"/>
            <a:ext cx="68941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46"/>
              </a:spcBef>
              <a:spcAft>
                <a:spcPts val="750"/>
              </a:spcAft>
              <a:buNone/>
            </a:pPr>
            <a:r>
              <a:rPr lang="en-US" sz="1238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設計系統</a:t>
            </a:r>
            <a:endParaRPr lang="en-US" sz="1238" dirty="0"/>
          </a:p>
        </p:txBody>
      </p:sp>
      <p:sp>
        <p:nvSpPr>
          <p:cNvPr id="40" name="Text 38"/>
          <p:cNvSpPr/>
          <p:nvPr/>
        </p:nvSpPr>
        <p:spPr>
          <a:xfrm>
            <a:off x="6877050" y="5819180"/>
            <a:ext cx="689419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統一的字體、間距、圓角規範，全應用視覺一致——同一套語言從首頁貫穿到導航。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494764" y="1908572"/>
            <a:ext cx="2840236" cy="333375"/>
          </a:xfrm>
          <a:prstGeom prst="roundRect">
            <a:avLst>
              <a:gd name="adj" fmla="val 28568571"/>
            </a:avLst>
          </a:prstGeom>
          <a:solidFill>
            <a:srgbClr val="0B6E4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6250" y="2432447"/>
            <a:ext cx="3071813" cy="2709863"/>
          </a:xfrm>
          <a:prstGeom prst="roundRect">
            <a:avLst>
              <a:gd name="adj" fmla="val 421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38563" y="2432447"/>
            <a:ext cx="3071813" cy="2709863"/>
          </a:xfrm>
          <a:prstGeom prst="roundRect">
            <a:avLst>
              <a:gd name="adj" fmla="val 421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00875" y="2432447"/>
            <a:ext cx="3071813" cy="2709863"/>
          </a:xfrm>
          <a:prstGeom prst="roundRect">
            <a:avLst>
              <a:gd name="adj" fmla="val 421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63188" y="2432447"/>
            <a:ext cx="3071813" cy="2709863"/>
          </a:xfrm>
          <a:prstGeom prst="roundRect">
            <a:avLst>
              <a:gd name="adj" fmla="val 421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6250" y="5332809"/>
            <a:ext cx="4159151" cy="2709863"/>
          </a:xfrm>
          <a:prstGeom prst="roundRect">
            <a:avLst>
              <a:gd name="adj" fmla="val 421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25901" y="5332809"/>
            <a:ext cx="4159300" cy="2709863"/>
          </a:xfrm>
          <a:prstGeom prst="roundRect">
            <a:avLst>
              <a:gd name="adj" fmla="val 421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75700" y="5332809"/>
            <a:ext cx="4159151" cy="2709863"/>
          </a:xfrm>
          <a:prstGeom prst="roundRect">
            <a:avLst>
              <a:gd name="adj" fmla="val 4218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801100" y="8233172"/>
            <a:ext cx="4533900" cy="1466850"/>
          </a:xfrm>
          <a:prstGeom prst="roundRect">
            <a:avLst>
              <a:gd name="adj" fmla="val 7792"/>
            </a:avLst>
          </a:prstGeom>
          <a:solidFill>
            <a:srgbClr val="E6E9E4"/>
          </a:solidFill>
          <a:ln w="19050">
            <a:solidFill>
              <a:srgbClr val="9AA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250" y="1116211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落地成果：已上線運營的真實產品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6250" y="1908572"/>
            <a:ext cx="628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不是一個 PPT 裡的構想，而是一個每天有人在用的產品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818614" y="1984772"/>
            <a:ext cx="26003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macaomap.vercel.app · 澳門全境可訪問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6750" y="3022997"/>
            <a:ext cx="28253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18.3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704850" y="3946922"/>
            <a:ext cx="46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萬條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6750" y="4361259"/>
            <a:ext cx="29598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站間實測樣本</a:t>
            </a:r>
            <a:endParaRPr lang="en-US" sz="1088" dirty="0"/>
          </a:p>
        </p:txBody>
      </p:sp>
      <p:sp>
        <p:nvSpPr>
          <p:cNvPr id="18" name="Text 16"/>
          <p:cNvSpPr/>
          <p:nvPr/>
        </p:nvSpPr>
        <p:spPr>
          <a:xfrm>
            <a:off x="666750" y="4680347"/>
            <a:ext cx="29598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自建程序逐秒累積而成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3929063" y="3022997"/>
            <a:ext cx="28253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89.0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3929063" y="3946922"/>
            <a:ext cx="202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%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929063" y="4361259"/>
            <a:ext cx="29598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相鄰站對覆蓋率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3929063" y="4680347"/>
            <a:ext cx="29598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絕大多數站間都有實測值</a:t>
            </a:r>
            <a:endParaRPr lang="en-US" sz="938" dirty="0"/>
          </a:p>
        </p:txBody>
      </p:sp>
      <p:sp>
        <p:nvSpPr>
          <p:cNvPr id="23" name="Text 21"/>
          <p:cNvSpPr/>
          <p:nvPr/>
        </p:nvSpPr>
        <p:spPr>
          <a:xfrm>
            <a:off x="7191375" y="3022997"/>
            <a:ext cx="28253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92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7191375" y="3946922"/>
            <a:ext cx="202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%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191375" y="4361259"/>
            <a:ext cx="29598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樣本達 30 條以上</a:t>
            </a:r>
            <a:endParaRPr lang="en-US" sz="1088" dirty="0"/>
          </a:p>
        </p:txBody>
      </p:sp>
      <p:sp>
        <p:nvSpPr>
          <p:cNvPr id="26" name="Text 24"/>
          <p:cNvSpPr/>
          <p:nvPr/>
        </p:nvSpPr>
        <p:spPr>
          <a:xfrm>
            <a:off x="7191375" y="4680347"/>
            <a:ext cx="29598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統計有足夠樣本支撐</a:t>
            </a:r>
            <a:endParaRPr lang="en-US" sz="938" dirty="0"/>
          </a:p>
        </p:txBody>
      </p:sp>
      <p:sp>
        <p:nvSpPr>
          <p:cNvPr id="27" name="Text 25"/>
          <p:cNvSpPr/>
          <p:nvPr/>
        </p:nvSpPr>
        <p:spPr>
          <a:xfrm>
            <a:off x="10453688" y="3022997"/>
            <a:ext cx="28253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</a:t>
            </a:r>
            <a:endParaRPr lang="en-US" sz="3150" dirty="0"/>
          </a:p>
        </p:txBody>
      </p:sp>
      <p:sp>
        <p:nvSpPr>
          <p:cNvPr id="28" name="Text 26"/>
          <p:cNvSpPr/>
          <p:nvPr/>
        </p:nvSpPr>
        <p:spPr>
          <a:xfrm>
            <a:off x="10491788" y="3946922"/>
            <a:ext cx="2305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張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453688" y="4361259"/>
            <a:ext cx="29598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數據表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10453688" y="4680347"/>
            <a:ext cx="29598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結構化存儲全部採集結果</a:t>
            </a:r>
            <a:endParaRPr lang="en-US" sz="938" dirty="0"/>
          </a:p>
        </p:txBody>
      </p:sp>
      <p:sp>
        <p:nvSpPr>
          <p:cNvPr id="31" name="Text 29"/>
          <p:cNvSpPr/>
          <p:nvPr/>
        </p:nvSpPr>
        <p:spPr>
          <a:xfrm>
            <a:off x="666750" y="5923359"/>
            <a:ext cx="39670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44,234</a:t>
            </a:r>
            <a:endParaRPr lang="en-US" sz="3150" dirty="0"/>
          </a:p>
        </p:txBody>
      </p:sp>
      <p:sp>
        <p:nvSpPr>
          <p:cNvPr id="32" name="Text 30"/>
          <p:cNvSpPr/>
          <p:nvPr/>
        </p:nvSpPr>
        <p:spPr>
          <a:xfrm>
            <a:off x="704850" y="6847284"/>
            <a:ext cx="2305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66750" y="7261622"/>
            <a:ext cx="41559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代碼</a:t>
            </a:r>
            <a:endParaRPr lang="en-US" sz="1088" dirty="0"/>
          </a:p>
        </p:txBody>
      </p:sp>
      <p:sp>
        <p:nvSpPr>
          <p:cNvPr id="34" name="Text 32"/>
          <p:cNvSpPr/>
          <p:nvPr/>
        </p:nvSpPr>
        <p:spPr>
          <a:xfrm>
            <a:off x="666750" y="7580709"/>
            <a:ext cx="4155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全棧自研，非套模板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5016401" y="5923359"/>
            <a:ext cx="39672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92</a:t>
            </a:r>
            <a:endParaRPr lang="en-US" sz="3150" dirty="0"/>
          </a:p>
        </p:txBody>
      </p:sp>
      <p:sp>
        <p:nvSpPr>
          <p:cNvPr id="36" name="Text 34"/>
          <p:cNvSpPr/>
          <p:nvPr/>
        </p:nvSpPr>
        <p:spPr>
          <a:xfrm>
            <a:off x="5054501" y="6828234"/>
            <a:ext cx="13329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71815" y="6847284"/>
            <a:ext cx="2305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條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016401" y="7261622"/>
            <a:ext cx="41561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巴士線與輕軌線</a:t>
            </a:r>
            <a:endParaRPr lang="en-US" sz="1088" dirty="0"/>
          </a:p>
        </p:txBody>
      </p:sp>
      <p:sp>
        <p:nvSpPr>
          <p:cNvPr id="39" name="Text 37"/>
          <p:cNvSpPr/>
          <p:nvPr/>
        </p:nvSpPr>
        <p:spPr>
          <a:xfrm>
            <a:off x="5016401" y="7580709"/>
            <a:ext cx="41561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覆蓋澳門全境公共交通</a:t>
            </a:r>
            <a:endParaRPr lang="en-US" sz="938" dirty="0"/>
          </a:p>
        </p:txBody>
      </p:sp>
      <p:sp>
        <p:nvSpPr>
          <p:cNvPr id="40" name="Text 38"/>
          <p:cNvSpPr/>
          <p:nvPr/>
        </p:nvSpPr>
        <p:spPr>
          <a:xfrm>
            <a:off x="9366200" y="5923359"/>
            <a:ext cx="39670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3150"/>
              </a:spcBef>
              <a:spcAft>
                <a:spcPts val="3150"/>
              </a:spcAft>
              <a:buNone/>
            </a:pPr>
            <a:r>
              <a:rPr lang="en-US" sz="3150" dirty="0">
                <a:solidFill>
                  <a:srgbClr val="0B6E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46</a:t>
            </a:r>
            <a:endParaRPr lang="en-US" sz="3150" dirty="0"/>
          </a:p>
        </p:txBody>
      </p:sp>
      <p:sp>
        <p:nvSpPr>
          <p:cNvPr id="41" name="Text 39"/>
          <p:cNvSpPr/>
          <p:nvPr/>
        </p:nvSpPr>
        <p:spPr>
          <a:xfrm>
            <a:off x="9404300" y="6847284"/>
            <a:ext cx="2305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B6E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場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9366200" y="7261622"/>
            <a:ext cx="41559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正式採集</a:t>
            </a:r>
            <a:endParaRPr lang="en-US" sz="1088" dirty="0"/>
          </a:p>
        </p:txBody>
      </p:sp>
      <p:sp>
        <p:nvSpPr>
          <p:cNvPr id="43" name="Text 41"/>
          <p:cNvSpPr/>
          <p:nvPr/>
        </p:nvSpPr>
        <p:spPr>
          <a:xfrm>
            <a:off x="9366200" y="7580709"/>
            <a:ext cx="4155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持續運轉的數據生產線</a:t>
            </a:r>
            <a:endParaRPr lang="en-US" sz="938" dirty="0"/>
          </a:p>
        </p:txBody>
      </p:sp>
      <p:sp>
        <p:nvSpPr>
          <p:cNvPr id="44" name="Text 42"/>
          <p:cNvSpPr/>
          <p:nvPr/>
        </p:nvSpPr>
        <p:spPr>
          <a:xfrm>
            <a:off x="666750" y="8691265"/>
            <a:ext cx="8486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46"/>
              </a:spcBef>
              <a:spcAft>
                <a:spcPts val="600"/>
              </a:spcAft>
              <a:buNone/>
            </a:pPr>
            <a:r>
              <a:rPr lang="en-US" sz="1238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真實使用</a:t>
            </a:r>
            <a:endParaRPr lang="en-US" sz="1238" dirty="0"/>
          </a:p>
        </p:txBody>
      </p:sp>
      <p:sp>
        <p:nvSpPr>
          <p:cNvPr id="45" name="Text 43"/>
          <p:cNvSpPr/>
          <p:nvPr/>
        </p:nvSpPr>
        <p:spPr>
          <a:xfrm>
            <a:off x="666750" y="9100840"/>
            <a:ext cx="848677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作者本人日常通勤實際使用，需求來自真實體驗——每一條功能都對應一個自己踩過的坑。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143998" y="8845153"/>
            <a:ext cx="9392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77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【 佔位框 】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76250" y="3105150"/>
            <a:ext cx="12858750" cy="1264444"/>
          </a:xfrm>
          <a:prstGeom prst="roundRect">
            <a:avLst>
              <a:gd name="adj" fmla="val 904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6750" y="32956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B4D8F"/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4521994"/>
            <a:ext cx="12858750" cy="1483519"/>
          </a:xfrm>
          <a:prstGeom prst="roundRect">
            <a:avLst>
              <a:gd name="adj" fmla="val 7705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6750" y="4712494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6406F"/>
          </a:solidFill>
          <a:ln/>
        </p:spPr>
      </p:sp>
      <p:sp>
        <p:nvSpPr>
          <p:cNvPr id="7" name="Shape 5"/>
          <p:cNvSpPr/>
          <p:nvPr/>
        </p:nvSpPr>
        <p:spPr>
          <a:xfrm>
            <a:off x="666750" y="6348413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A85E00"/>
          </a:solidFill>
          <a:ln/>
        </p:spPr>
      </p:sp>
      <p:pic>
        <p:nvPicPr>
          <p:cNvPr id="8" name="Image 0" descr="D:\Projects\University\Studio\musttoukou\.workbuddy\ppt-sep\frontend\dist-slides\html2pptx_tmp_all-slides\svg_179051974886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3438525"/>
            <a:ext cx="247650" cy="247650"/>
          </a:xfrm>
          <a:prstGeom prst="rect">
            <a:avLst/>
          </a:prstGeom>
        </p:spPr>
      </p:pic>
      <p:pic>
        <p:nvPicPr>
          <p:cNvPr id="9" name="Image 1" descr="D:\Projects\University\Studio\musttoukou\.workbuddy\ppt-sep\frontend\dist-slides\html2pptx_tmp_all-slides\svg_179051974898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855369"/>
            <a:ext cx="247650" cy="247650"/>
          </a:xfrm>
          <a:prstGeom prst="rect">
            <a:avLst/>
          </a:prstGeom>
        </p:spPr>
      </p:pic>
      <p:pic>
        <p:nvPicPr>
          <p:cNvPr id="10" name="Image 2" descr="D:\Projects\University\Studio\musttoukou\.workbuddy\ppt-sep\frontend\dist-slides\html2pptx_tmp_all-slides\svg_1790519749016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6491288"/>
            <a:ext cx="247650" cy="2476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6250" y="1116211"/>
            <a:ext cx="14144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展望：下一步與邊界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666750" y="2356247"/>
            <a:ext cx="1372552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讓澳門每一位通勤者，都能把「等車」變成可計算的事</a:t>
            </a:r>
            <a:endParaRPr lang="en-US" sz="1275" dirty="0"/>
          </a:p>
        </p:txBody>
      </p:sp>
      <p:sp>
        <p:nvSpPr>
          <p:cNvPr id="13" name="Text 8"/>
          <p:cNvSpPr/>
          <p:nvPr/>
        </p:nvSpPr>
        <p:spPr>
          <a:xfrm>
            <a:off x="1390650" y="3467100"/>
            <a:ext cx="115298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下一突破口：接入新數據源，而非更複雜的模型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390650" y="3829050"/>
            <a:ext cx="11529834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接入天氣數據——暴雨與颱風天巴士誤差明顯增大，天氣是最大的外部因素；而澳門氣象局開放數據可免費獲取，投入產出比最高。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2062817" y="3295650"/>
            <a:ext cx="1189851" cy="276225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B6E4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低成本 · 高收益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390650" y="4883944"/>
            <a:ext cx="129292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技術天花板已經探明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90650" y="5245894"/>
            <a:ext cx="1292923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實測出這類數據的資訊上限為 15 秒，現有方法已經接近這個上限，繼續升級模型收益有限。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390650" y="5614988"/>
            <a:ext cx="1634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B949E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後續路線（按成本遞增）：</a:t>
            </a:r>
            <a:endParaRPr lang="en-US" sz="975" dirty="0"/>
          </a:p>
        </p:txBody>
      </p:sp>
      <p:sp>
        <p:nvSpPr>
          <p:cNvPr id="19" name="Text 14"/>
          <p:cNvSpPr/>
          <p:nvPr/>
        </p:nvSpPr>
        <p:spPr>
          <a:xfrm>
            <a:off x="2971800" y="5576888"/>
            <a:ext cx="796290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統計係數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3790950" y="5624513"/>
            <a:ext cx="130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>
                    <a:alpha val="40000"/>
                  </a:srgbClr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975" dirty="0"/>
          </a:p>
        </p:txBody>
      </p:sp>
      <p:sp>
        <p:nvSpPr>
          <p:cNvPr id="21" name="Text 16"/>
          <p:cNvSpPr/>
          <p:nvPr/>
        </p:nvSpPr>
        <p:spPr>
          <a:xfrm>
            <a:off x="4010025" y="5576888"/>
            <a:ext cx="932498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殘差小模型</a:t>
            </a:r>
            <a:endParaRPr lang="en-US" sz="975" dirty="0"/>
          </a:p>
        </p:txBody>
      </p:sp>
      <p:sp>
        <p:nvSpPr>
          <p:cNvPr id="22" name="Text 17"/>
          <p:cNvSpPr/>
          <p:nvPr/>
        </p:nvSpPr>
        <p:spPr>
          <a:xfrm>
            <a:off x="4953000" y="5624513"/>
            <a:ext cx="1300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>
                    <a:alpha val="40000"/>
                  </a:srgbClr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→</a:t>
            </a:r>
            <a:endParaRPr lang="en-US" sz="975" dirty="0"/>
          </a:p>
        </p:txBody>
      </p:sp>
      <p:sp>
        <p:nvSpPr>
          <p:cNvPr id="23" name="Text 18"/>
          <p:cNvSpPr/>
          <p:nvPr/>
        </p:nvSpPr>
        <p:spPr>
          <a:xfrm>
            <a:off x="5172075" y="5576888"/>
            <a:ext cx="796290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6406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序列模型</a:t>
            </a:r>
            <a:endParaRPr lang="en-US" sz="975" dirty="0"/>
          </a:p>
        </p:txBody>
      </p:sp>
      <p:sp>
        <p:nvSpPr>
          <p:cNvPr id="24" name="Text 19"/>
          <p:cNvSpPr/>
          <p:nvPr/>
        </p:nvSpPr>
        <p:spPr>
          <a:xfrm>
            <a:off x="1390650" y="6519863"/>
            <a:ext cx="129292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A85E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誠實標註局限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543050" y="6972300"/>
            <a:ext cx="297037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週六樣本偏少，目前「週末」結論主要來自週日</a:t>
            </a:r>
            <a:endParaRPr lang="en-US" sz="1013" dirty="0"/>
          </a:p>
        </p:txBody>
      </p:sp>
      <p:sp>
        <p:nvSpPr>
          <p:cNvPr id="26" name="Text 21"/>
          <p:cNvSpPr/>
          <p:nvPr/>
        </p:nvSpPr>
        <p:spPr>
          <a:xfrm>
            <a:off x="5511701" y="6972300"/>
            <a:ext cx="169735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週五晚高峰數據待補充採集</a:t>
            </a:r>
            <a:endParaRPr lang="en-US" sz="1013" dirty="0"/>
          </a:p>
        </p:txBody>
      </p:sp>
      <p:sp>
        <p:nvSpPr>
          <p:cNvPr id="27" name="Text 22"/>
          <p:cNvSpPr/>
          <p:nvPr/>
        </p:nvSpPr>
        <p:spPr>
          <a:xfrm>
            <a:off x="9480500" y="6972300"/>
            <a:ext cx="14144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公眾假期表需每年更新</a:t>
            </a:r>
            <a:endParaRPr lang="en-US" sz="1013" dirty="0"/>
          </a:p>
        </p:txBody>
      </p:sp>
      <p:sp>
        <p:nvSpPr>
          <p:cNvPr id="28" name="Text 23"/>
          <p:cNvSpPr/>
          <p:nvPr/>
        </p:nvSpPr>
        <p:spPr>
          <a:xfrm>
            <a:off x="1047750" y="6753225"/>
            <a:ext cx="10659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· 澳搭車</a:t>
            </a:r>
            <a:endParaRPr lang="en-US" sz="975" dirty="0"/>
          </a:p>
        </p:txBody>
      </p:sp>
      <p:sp>
        <p:nvSpPr>
          <p:cNvPr id="29" name="Text 24"/>
          <p:cNvSpPr/>
          <p:nvPr/>
        </p:nvSpPr>
        <p:spPr>
          <a:xfrm>
            <a:off x="12510641" y="6762750"/>
            <a:ext cx="1654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2F4F0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534150" y="1253133"/>
            <a:ext cx="742950" cy="742950"/>
          </a:xfrm>
          <a:prstGeom prst="roundRect">
            <a:avLst>
              <a:gd name="adj" fmla="val 20513"/>
            </a:avLst>
          </a:prstGeom>
          <a:solidFill>
            <a:srgbClr val="1B4D8F"/>
          </a:solidFill>
          <a:ln/>
        </p:spPr>
      </p:sp>
      <p:sp>
        <p:nvSpPr>
          <p:cNvPr id="4" name="Shape 2"/>
          <p:cNvSpPr/>
          <p:nvPr/>
        </p:nvSpPr>
        <p:spPr>
          <a:xfrm>
            <a:off x="6381750" y="3852118"/>
            <a:ext cx="1047750" cy="28575"/>
          </a:xfrm>
          <a:prstGeom prst="rect">
            <a:avLst/>
          </a:prstGeom>
          <a:solidFill>
            <a:srgbClr val="1B4D8F"/>
          </a:solidFill>
          <a:ln/>
        </p:spPr>
      </p:sp>
      <p:pic>
        <p:nvPicPr>
          <p:cNvPr id="5" name="Image 0" descr="D:\Projects\University\Studio\musttoukou\.workbuddy\ppt-sep\frontend\dist-slides\html2pptx_tmp_all-slides\svg_179051975368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6075" y="1415058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01742" y="2747218"/>
            <a:ext cx="286837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915"/>
              </a:spcBef>
              <a:spcAft>
                <a:spcPts val="2400"/>
              </a:spcAft>
              <a:buNone/>
            </a:pPr>
            <a:r>
              <a:rPr lang="en-US" sz="4350" dirty="0">
                <a:solidFill>
                  <a:srgbClr val="1640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感謝聆聽</a:t>
            </a:r>
            <a:endParaRPr lang="en-US" sz="4350" dirty="0"/>
          </a:p>
        </p:txBody>
      </p:sp>
      <p:sp>
        <p:nvSpPr>
          <p:cNvPr id="7" name="Text 4"/>
          <p:cNvSpPr/>
          <p:nvPr/>
        </p:nvSpPr>
        <p:spPr>
          <a:xfrm>
            <a:off x="5396865" y="4509343"/>
            <a:ext cx="30175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dirty="0">
                <a:solidFill>
                  <a:srgbClr val="1B4D8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 Map · 澳搭車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396865" y="5214193"/>
            <a:ext cx="30175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把等車的不確定性，變成可計算的分鐘數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54985" y="6381006"/>
            <a:ext cx="1475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B4D8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macaomap.vercel.app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7408366" y="6366718"/>
            <a:ext cx="11526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A6472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M Map 開發團隊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2026-09-27T14:35:58Z</dcterms:created>
  <dcterms:modified xsi:type="dcterms:W3CDTF">2026-09-27T14:35:58Z</dcterms:modified>
</cp:coreProperties>
</file>